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6"/>
          </a:solidFill>
          <a:ln w="10160">
            <a:solidFill>
              <a:srgbClr val="08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5029200" cy="2743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1">
                <a:solidFill>
                  <a:srgbClr val="40D9C0"/>
                </a:solidFill>
                <a:latin typeface="Microsoft YaHei"/>
              </a:rPr>
              <a:t>投递运营复盘  /  2026.07.19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5669280" cy="13258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3700" b="1">
                <a:solidFill>
                  <a:srgbClr val="F4F8FA"/>
                </a:solidFill>
                <a:latin typeface="Microsoft YaHei"/>
              </a:rPr>
              <a:t>不是 3%，
是 20.1%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80360"/>
            <a:ext cx="5394960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600" b="0">
                <a:solidFill>
                  <a:srgbClr val="91AAB5"/>
                </a:solidFill>
                <a:latin typeface="Microsoft YaHei"/>
              </a:rPr>
              <a:t>今日进入投递偏少，首要原因是 HR 活跃筛选过严；
“3%”来自全历史分母，不能代表今日转化。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914400"/>
            <a:ext cx="3977639" cy="4343400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298448"/>
            <a:ext cx="18288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1">
                <a:solidFill>
                  <a:srgbClr val="40D9C0"/>
                </a:solidFill>
                <a:latin typeface="Microsoft YaHei"/>
              </a:rPr>
              <a:t>指标纠偏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691640"/>
            <a:ext cx="2743200" cy="685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4100" b="1">
                <a:solidFill>
                  <a:srgbClr val="FF6B6B"/>
                </a:solidFill>
                <a:latin typeface="Aptos Display"/>
              </a:rPr>
              <a:t>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514600"/>
            <a:ext cx="2880360" cy="51206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300" b="0">
                <a:solidFill>
                  <a:srgbClr val="91AAB5"/>
                </a:solidFill>
                <a:latin typeface="Microsoft YaHei"/>
              </a:rPr>
              <a:t>面板显示
95 ÷ 3,665（全历史）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3246120"/>
            <a:ext cx="1371600" cy="5029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2500" b="1">
                <a:solidFill>
                  <a:srgbClr val="65D391"/>
                </a:solidFill>
                <a:latin typeface="Aptos Display"/>
              </a:rPr>
              <a:t>20.1%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3822191"/>
            <a:ext cx="1234440" cy="47548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1200" b="0">
                <a:solidFill>
                  <a:srgbClr val="F4F8FA"/>
                </a:solidFill>
                <a:latin typeface="Microsoft YaHei"/>
              </a:rPr>
              <a:t>同日真实
95 ÷ 473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4718304"/>
            <a:ext cx="3182112" cy="2743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FFB454"/>
                </a:solidFill>
                <a:latin typeface="Microsoft YaHei"/>
              </a:rPr>
              <a:t>结论可信度：高（分母问题可由代码直接复核）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074920"/>
            <a:ext cx="2011680" cy="960120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93792"/>
            <a:ext cx="1737360" cy="1828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当日评估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385816"/>
            <a:ext cx="1773936" cy="3931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500" b="1">
                <a:solidFill>
                  <a:srgbClr val="6EB6FF"/>
                </a:solidFill>
                <a:latin typeface="Aptos Display"/>
              </a:rPr>
              <a:t>473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5074920"/>
            <a:ext cx="2011680" cy="960120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5193792"/>
            <a:ext cx="1737360" cy="1828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进入投递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5385816"/>
            <a:ext cx="1773936" cy="3931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500" b="1">
                <a:solidFill>
                  <a:srgbClr val="40D9C0"/>
                </a:solidFill>
                <a:latin typeface="Aptos Display"/>
              </a:rPr>
              <a:t>95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5074920"/>
            <a:ext cx="2011680" cy="960120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193792"/>
            <a:ext cx="1737360" cy="1828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已发送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5385816"/>
            <a:ext cx="1773936" cy="3931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500" b="1">
                <a:solidFill>
                  <a:srgbClr val="65D391"/>
                </a:solidFill>
                <a:latin typeface="Aptos Display"/>
              </a:rPr>
              <a:t>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5989320"/>
            <a:ext cx="3840480" cy="3017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0">
                <a:solidFill>
                  <a:srgbClr val="F4F8FA"/>
                </a:solidFill>
                <a:latin typeface="Microsoft YaHei"/>
              </a:rPr>
              <a:t>汇报目标：解释量少的真实原因，并把可修正动作排出优先级。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9672"/>
            <a:ext cx="996696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800" b="0">
                <a:solidFill>
                  <a:srgbClr val="91AAB5"/>
                </a:solidFill>
                <a:latin typeface="Microsoft YaHei"/>
              </a:rPr>
              <a:t>口径：本地时间；来源见数据快照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19672"/>
            <a:ext cx="146304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800" b="0">
                <a:solidFill>
                  <a:srgbClr val="91AAB5"/>
                </a:solidFill>
                <a:latin typeface="Microsoft YaHei"/>
              </a:rPr>
              <a:t>GOODJOB 运营复盘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6"/>
          </a:solidFill>
          <a:ln w="10160">
            <a:solidFill>
              <a:srgbClr val="08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12064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900" b="1">
                <a:solidFill>
                  <a:srgbClr val="40D9C0"/>
                </a:solidFill>
                <a:latin typeface="Microsoft YaHei"/>
              </a:rPr>
              <a:t>01 / 指标口径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515600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600" b="1">
                <a:solidFill>
                  <a:srgbClr val="F4F8FA"/>
                </a:solidFill>
                <a:latin typeface="Microsoft YaHei"/>
              </a:rPr>
              <a:t>先纠正指标：分母错了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59436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数据日期 2026-07-19  ·  管理层复盘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59436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900" b="0">
                <a:solidFill>
                  <a:srgbClr val="91AAB5"/>
                </a:solidFill>
                <a:latin typeface="Microsoft YaHei"/>
              </a:rPr>
              <a:t>02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5212080" cy="3364992"/>
          </a:xfrm>
          <a:prstGeom prst="roundRect">
            <a:avLst/>
          </a:prstGeom>
          <a:solidFill>
            <a:srgbClr val="2A1D2A"/>
          </a:solidFill>
          <a:ln w="10160">
            <a:solidFill>
              <a:srgbClr val="5D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47672"/>
            <a:ext cx="201168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Microsoft YaHei"/>
              </a:rPr>
              <a:t>面板当前算法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14600"/>
            <a:ext cx="4389120" cy="9601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600" b="1">
                <a:solidFill>
                  <a:srgbClr val="F4F8FA"/>
                </a:solidFill>
                <a:latin typeface="Aptos Display"/>
              </a:rPr>
              <a:t>95 ÷ 3665
= 2.6%  →  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931920"/>
            <a:ext cx="4343400" cy="54864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300" b="0">
                <a:solidFill>
                  <a:srgbClr val="91AAB5"/>
                </a:solidFill>
                <a:latin typeface="Microsoft YaHei"/>
              </a:rPr>
              <a:t>renderFunnel 使用 summary.evaluatedJobs
它是全历史累计值，不随今日筛选切换。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664208"/>
            <a:ext cx="5212080" cy="3364992"/>
          </a:xfrm>
          <a:prstGeom prst="roundRect">
            <a:avLst/>
          </a:prstGeom>
          <a:solidFill>
            <a:srgbClr val="122A2A"/>
          </a:solidFill>
          <a:ln w="10160">
            <a:solidFill>
              <a:srgbClr val="2D6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2824" y="1947672"/>
            <a:ext cx="201168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1">
                <a:solidFill>
                  <a:srgbClr val="65D391"/>
                </a:solidFill>
                <a:latin typeface="Microsoft YaHei"/>
              </a:rPr>
              <a:t>同日复盘算法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4" y="2514600"/>
            <a:ext cx="4389120" cy="9601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900" b="1">
                <a:solidFill>
                  <a:srgbClr val="F4F8FA"/>
                </a:solidFill>
                <a:latin typeface="Aptos Display"/>
              </a:rPr>
              <a:t>95 ÷ 473
= 20.1%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2824" y="3931920"/>
            <a:ext cx="4343400" cy="54864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300" b="0">
                <a:solidFill>
                  <a:srgbClr val="91AAB5"/>
                </a:solidFill>
                <a:latin typeface="Microsoft YaHei"/>
              </a:rPr>
              <a:t>分子、分母都限定在 2026-07-19，
结果才可用于判断当天筛选效率。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532120"/>
            <a:ext cx="10789920" cy="4114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1800" b="1">
                <a:solidFill>
                  <a:srgbClr val="FFB454"/>
                </a:solidFill>
                <a:latin typeface="Microsoft YaHei"/>
              </a:rPr>
              <a:t>判断：3% 是仪表盘展示问题，不是今日系统真实转化。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9672"/>
            <a:ext cx="996696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800" b="0">
                <a:solidFill>
                  <a:srgbClr val="91AAB5"/>
                </a:solidFill>
                <a:latin typeface="Microsoft YaHei"/>
              </a:rPr>
              <a:t>证据：dashboard/app.js renderFunnel；评估量来自 job_actions.jsonl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19672"/>
            <a:ext cx="146304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800" b="0">
                <a:solidFill>
                  <a:srgbClr val="91AAB5"/>
                </a:solidFill>
                <a:latin typeface="Microsoft YaHei"/>
              </a:rPr>
              <a:t>GOODJOB 运营复盘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6"/>
          </a:solidFill>
          <a:ln w="10160">
            <a:solidFill>
              <a:srgbClr val="08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12064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900" b="1">
                <a:solidFill>
                  <a:srgbClr val="40D9C0"/>
                </a:solidFill>
                <a:latin typeface="Microsoft YaHei"/>
              </a:rPr>
              <a:t>02 / 当日漏斗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515600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600" b="1">
                <a:solidFill>
                  <a:srgbClr val="F4F8FA"/>
                </a:solidFill>
                <a:latin typeface="Microsoft YaHei"/>
              </a:rPr>
              <a:t>473 个岗位评估，最终 89 个发送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59436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数据日期 2026-07-19  ·  管理层复盘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59436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900" b="0">
                <a:solidFill>
                  <a:srgbClr val="91AAB5"/>
                </a:solidFill>
                <a:latin typeface="Microsoft YaHei"/>
              </a:rP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2423160" cy="1965960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6E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39696"/>
            <a:ext cx="2057400" cy="24688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1200" b="0">
                <a:solidFill>
                  <a:srgbClr val="91AAB5"/>
                </a:solidFill>
                <a:latin typeface="Microsoft YaHei"/>
              </a:rPr>
              <a:t>评估岗位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78608"/>
            <a:ext cx="2011680" cy="6400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3500" b="1">
                <a:solidFill>
                  <a:srgbClr val="6EB6FF"/>
                </a:solidFill>
                <a:latin typeface="Aptos Display"/>
              </a:rPr>
              <a:t>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364992"/>
            <a:ext cx="20574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1100" b="0">
                <a:solidFill>
                  <a:srgbClr val="F4F8FA"/>
                </a:solidFill>
                <a:latin typeface="Microsoft YaHei"/>
              </a:rPr>
              <a:t>100%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64408" y="2880360"/>
            <a:ext cx="694944" cy="0"/>
          </a:xfrm>
          <a:prstGeom prst="line">
            <a:avLst/>
          </a:prstGeom>
          <a:ln w="19050">
            <a:solidFill>
              <a:srgbClr val="91A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69080" y="1901952"/>
            <a:ext cx="2423160" cy="1965960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4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2139696"/>
            <a:ext cx="2057400" cy="24688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1200" b="0">
                <a:solidFill>
                  <a:srgbClr val="91AAB5"/>
                </a:solidFill>
                <a:latin typeface="Microsoft YaHei"/>
              </a:rPr>
              <a:t>进入投递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578608"/>
            <a:ext cx="2011680" cy="6400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3500" b="1">
                <a:solidFill>
                  <a:srgbClr val="40D9C0"/>
                </a:solidFill>
                <a:latin typeface="Aptos Display"/>
              </a:rPr>
              <a:t>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3364992"/>
            <a:ext cx="20574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1100" b="0">
                <a:solidFill>
                  <a:srgbClr val="F4F8FA"/>
                </a:solidFill>
                <a:latin typeface="Microsoft YaHei"/>
              </a:rPr>
              <a:t>占评估 20.1%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56248" y="2880360"/>
            <a:ext cx="694944" cy="0"/>
          </a:xfrm>
          <a:prstGeom prst="line">
            <a:avLst/>
          </a:prstGeom>
          <a:ln w="19050">
            <a:solidFill>
              <a:srgbClr val="91A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1901952"/>
            <a:ext cx="2423160" cy="1965960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2139696"/>
            <a:ext cx="2057400" cy="24688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1200" b="0">
                <a:solidFill>
                  <a:srgbClr val="91AAB5"/>
                </a:solidFill>
                <a:latin typeface="Microsoft YaHei"/>
              </a:rPr>
              <a:t>已发送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578608"/>
            <a:ext cx="2011680" cy="6400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3500" b="1">
                <a:solidFill>
                  <a:srgbClr val="65D391"/>
                </a:solidFill>
                <a:latin typeface="Aptos Display"/>
              </a:rPr>
              <a:t>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3364992"/>
            <a:ext cx="20574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1100" b="0">
                <a:solidFill>
                  <a:srgbClr val="F4F8FA"/>
                </a:solidFill>
                <a:latin typeface="Microsoft YaHei"/>
              </a:rPr>
              <a:t>占评估 18.8%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97680"/>
            <a:ext cx="10561320" cy="914400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553712"/>
            <a:ext cx="914400" cy="1828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0">
                <a:solidFill>
                  <a:srgbClr val="91AAB5"/>
                </a:solidFill>
                <a:latin typeface="Microsoft YaHei"/>
              </a:rPr>
              <a:t>投递状态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489704"/>
            <a:ext cx="1691640" cy="24688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300" b="1">
                <a:solidFill>
                  <a:srgbClr val="65D391"/>
                </a:solidFill>
                <a:latin typeface="Microsoft YaHei"/>
              </a:rPr>
              <a:t>已发送  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489704"/>
            <a:ext cx="1691640" cy="24688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300" b="1">
                <a:solidFill>
                  <a:srgbClr val="40D9C0"/>
                </a:solidFill>
                <a:latin typeface="Microsoft YaHei"/>
              </a:rPr>
              <a:t>排队 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489704"/>
            <a:ext cx="1691640" cy="24688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Microsoft YaHei"/>
              </a:rPr>
              <a:t>预留 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489704"/>
            <a:ext cx="1691640" cy="24688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Microsoft YaHei"/>
              </a:rPr>
              <a:t>异常 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513832"/>
            <a:ext cx="201168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1200" b="0">
                <a:solidFill>
                  <a:srgbClr val="91AAB5"/>
                </a:solidFill>
                <a:latin typeface="Microsoft YaHei"/>
              </a:rPr>
              <a:t>今日真实进入投递率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5358384"/>
            <a:ext cx="2194560" cy="5029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900" b="1">
                <a:solidFill>
                  <a:srgbClr val="40D9C0"/>
                </a:solidFill>
                <a:latin typeface="Aptos Display"/>
              </a:rPr>
              <a:t>20.1%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996696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800" b="0">
                <a:solidFill>
                  <a:srgbClr val="91AAB5"/>
                </a:solidFill>
                <a:latin typeface="Microsoft YaHei"/>
              </a:rPr>
              <a:t>进入投递取 delivery_state.db；已发送/排队/预留/异常为当日状态快照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19672"/>
            <a:ext cx="146304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800" b="0">
                <a:solidFill>
                  <a:srgbClr val="91AAB5"/>
                </a:solidFill>
                <a:latin typeface="Microsoft YaHei"/>
              </a:rPr>
              <a:t>GOODJOB 运营复盘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6"/>
          </a:solidFill>
          <a:ln w="10160">
            <a:solidFill>
              <a:srgbClr val="08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12064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900" b="1">
                <a:solidFill>
                  <a:srgbClr val="40D9C0"/>
                </a:solidFill>
                <a:latin typeface="Microsoft YaHei"/>
              </a:rPr>
              <a:t>03 / 损耗归因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515600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600" b="1">
                <a:solidFill>
                  <a:srgbClr val="F4F8FA"/>
                </a:solidFill>
                <a:latin typeface="Microsoft YaHei"/>
              </a:rPr>
              <a:t>最大可确认原因：HR 活跃筛选过严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59436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数据日期 2026-07-19  ·  管理层复盘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59436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900" b="0">
                <a:solidFill>
                  <a:srgbClr val="91AAB5"/>
                </a:solidFill>
                <a:latin typeface="Microsoft YaHei"/>
              </a:rPr>
              <a:t>04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27632"/>
            <a:ext cx="3291840" cy="25603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300" b="0">
                <a:solidFill>
                  <a:srgbClr val="91AAB5"/>
                </a:solidFill>
                <a:latin typeface="Microsoft YaHei"/>
              </a:rPr>
              <a:t>未进入投递的 378 个岗位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66543"/>
            <a:ext cx="1965960" cy="21031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0">
                <a:solidFill>
                  <a:srgbClr val="F4F8FA"/>
                </a:solidFill>
                <a:latin typeface="Microsoft YaHei"/>
              </a:rPr>
              <a:t>HR 活跃筛除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03120"/>
            <a:ext cx="3931920" cy="164592"/>
          </a:xfrm>
          <a:prstGeom prst="roundRect">
            <a:avLst/>
          </a:prstGeom>
          <a:solidFill>
            <a:srgbClr val="143444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2103120"/>
            <a:ext cx="3931920" cy="164592"/>
          </a:xfrm>
          <a:prstGeom prst="roundRect">
            <a:avLst/>
          </a:prstGeom>
          <a:solidFill>
            <a:srgbClr val="FF6B6B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2057400"/>
            <a:ext cx="658368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1100" b="1">
                <a:solidFill>
                  <a:srgbClr val="FF6B6B"/>
                </a:solidFill>
                <a:latin typeface="Aptos Display"/>
              </a:rPr>
              <a:t>191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039112"/>
            <a:ext cx="118872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占损耗 50.5%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1965960" cy="21031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0">
                <a:solidFill>
                  <a:srgbClr val="F4F8FA"/>
                </a:solidFill>
                <a:latin typeface="Microsoft YaHei"/>
              </a:rPr>
              <a:t>领取前未记录/中断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688336"/>
            <a:ext cx="3931920" cy="164592"/>
          </a:xfrm>
          <a:prstGeom prst="roundRect">
            <a:avLst/>
          </a:prstGeom>
          <a:solidFill>
            <a:srgbClr val="143444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0" y="2688336"/>
            <a:ext cx="2717347" cy="164592"/>
          </a:xfrm>
          <a:prstGeom prst="roundRect">
            <a:avLst/>
          </a:prstGeom>
          <a:solidFill>
            <a:srgbClr val="FFB454"/>
          </a:solidFill>
          <a:ln w="1016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2642616"/>
            <a:ext cx="658368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1100" b="1">
                <a:solidFill>
                  <a:srgbClr val="FFB454"/>
                </a:solidFill>
                <a:latin typeface="Aptos Display"/>
              </a:rPr>
              <a:t>132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624328"/>
            <a:ext cx="118872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占损耗 34.9%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36976"/>
            <a:ext cx="1965960" cy="21031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0">
                <a:solidFill>
                  <a:srgbClr val="F4F8FA"/>
                </a:solidFill>
                <a:latin typeface="Microsoft YaHei"/>
              </a:rPr>
              <a:t>AI 筛除（HR通过后）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273552"/>
            <a:ext cx="3931920" cy="164592"/>
          </a:xfrm>
          <a:prstGeom prst="roundRect">
            <a:avLst/>
          </a:prstGeom>
          <a:solidFill>
            <a:srgbClr val="143444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0" y="3273552"/>
            <a:ext cx="720508" cy="164592"/>
          </a:xfrm>
          <a:prstGeom prst="roundRect">
            <a:avLst/>
          </a:prstGeom>
          <a:solidFill>
            <a:srgbClr val="A995FF"/>
          </a:solidFill>
          <a:ln w="1016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227832"/>
            <a:ext cx="658368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1100" b="1">
                <a:solidFill>
                  <a:srgbClr val="A995FF"/>
                </a:solidFill>
                <a:latin typeface="Aptos Display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209544"/>
            <a:ext cx="118872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占损耗 9.3%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22191"/>
            <a:ext cx="1965960" cy="21031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0">
                <a:solidFill>
                  <a:srgbClr val="F4F8FA"/>
                </a:solidFill>
                <a:latin typeface="Microsoft YaHei"/>
              </a:rPr>
              <a:t>随机跳过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858768"/>
            <a:ext cx="3931920" cy="164592"/>
          </a:xfrm>
          <a:prstGeom prst="roundRect">
            <a:avLst/>
          </a:prstGeom>
          <a:solidFill>
            <a:srgbClr val="143444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0" y="3858768"/>
            <a:ext cx="370547" cy="164592"/>
          </a:xfrm>
          <a:prstGeom prst="roundRect">
            <a:avLst/>
          </a:prstGeom>
          <a:solidFill>
            <a:srgbClr val="6EB6FF"/>
          </a:solidFill>
          <a:ln w="10160">
            <a:solidFill>
              <a:srgbClr val="6E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3813048"/>
            <a:ext cx="658368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1100" b="1">
                <a:solidFill>
                  <a:srgbClr val="6EB6FF"/>
                </a:solidFill>
                <a:latin typeface="Aptos Display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794760"/>
            <a:ext cx="118872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占损耗 4.8%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407408"/>
            <a:ext cx="1965960" cy="21031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0">
                <a:solidFill>
                  <a:srgbClr val="F4F8FA"/>
                </a:solidFill>
                <a:latin typeface="Microsoft YaHei"/>
              </a:rPr>
              <a:t>规则阈值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4443984"/>
            <a:ext cx="3931920" cy="164592"/>
          </a:xfrm>
          <a:prstGeom prst="roundRect">
            <a:avLst/>
          </a:prstGeom>
          <a:solidFill>
            <a:srgbClr val="143444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43200" y="4443984"/>
            <a:ext cx="41171" cy="164592"/>
          </a:xfrm>
          <a:prstGeom prst="roundRect">
            <a:avLst/>
          </a:prstGeom>
          <a:solidFill>
            <a:srgbClr val="91AAB5"/>
          </a:solidFill>
          <a:ln w="10160">
            <a:solidFill>
              <a:srgbClr val="91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4398264"/>
            <a:ext cx="658368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1100" b="1">
                <a:solidFill>
                  <a:srgbClr val="91AAB5"/>
                </a:solidFill>
                <a:latin typeface="Aptos Display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379976"/>
            <a:ext cx="118872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占损耗 0.5%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1755648"/>
            <a:ext cx="1965960" cy="3520440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82912" y="2103120"/>
            <a:ext cx="1554480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3500" b="1">
                <a:solidFill>
                  <a:srgbClr val="FF6B6B"/>
                </a:solidFill>
                <a:latin typeface="Aptos Display"/>
              </a:rPr>
              <a:t>191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816352"/>
            <a:ext cx="1600200" cy="57607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1300" b="0">
                <a:solidFill>
                  <a:srgbClr val="F4F8FA"/>
                </a:solidFill>
                <a:latin typeface="Microsoft YaHei"/>
              </a:rPr>
              <a:t>HR 活跃筛除
占全部损耗 50.5%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675887"/>
            <a:ext cx="1600200" cy="11887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1000" b="0">
                <a:solidFill>
                  <a:srgbClr val="91AAB5"/>
                </a:solidFill>
                <a:latin typeface="Microsoft YaHei"/>
              </a:rPr>
              <a:t>当时只允许：
online / just_now / today
被筛掉的状态：
within_3_days / this_week / this_month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5367528"/>
            <a:ext cx="10332720" cy="3931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400" b="1">
                <a:solidFill>
                  <a:srgbClr val="FFB454"/>
                </a:solidFill>
                <a:latin typeface="Microsoft YaHei"/>
              </a:rPr>
              <a:t>132 个“领取前未记录/中断”是日志盲区，不能全部断言为重复岗位。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19672"/>
            <a:ext cx="996696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800" b="0">
                <a:solidFill>
                  <a:srgbClr val="91AAB5"/>
                </a:solidFill>
                <a:latin typeface="Microsoft YaHei"/>
              </a:rPr>
              <a:t>损耗按同日事件与状态快照拆分；132 为剩余项，需补审计事件后再细分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19672"/>
            <a:ext cx="146304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800" b="0">
                <a:solidFill>
                  <a:srgbClr val="91AAB5"/>
                </a:solidFill>
                <a:latin typeface="Microsoft YaHei"/>
              </a:rPr>
              <a:t>GOODJOB 运营复盘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6"/>
          </a:solidFill>
          <a:ln w="10160">
            <a:solidFill>
              <a:srgbClr val="08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12064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900" b="1">
                <a:solidFill>
                  <a:srgbClr val="40D9C0"/>
                </a:solidFill>
                <a:latin typeface="Microsoft YaHei"/>
              </a:rPr>
              <a:t>04 / 运行效率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515600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600" b="1">
                <a:solidFill>
                  <a:srgbClr val="F4F8FA"/>
                </a:solidFill>
                <a:latin typeface="Microsoft YaHei"/>
              </a:rPr>
              <a:t>账号没有跑满：第三账号晚启动且弹窗被拦截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59436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数据日期 2026-07-19  ·  管理层复盘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59436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900" b="0">
                <a:solidFill>
                  <a:srgbClr val="91AAB5"/>
                </a:solidFill>
                <a:latin typeface="Microsoft YaHei"/>
              </a:rPr>
              <a:t>05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18488"/>
            <a:ext cx="2926080" cy="23774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300" b="0">
                <a:solidFill>
                  <a:srgbClr val="91AAB5"/>
                </a:solidFill>
                <a:latin typeface="Microsoft YaHei"/>
              </a:rPr>
              <a:t>按每账号 60 个日上限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965960" cy="21031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0">
                <a:solidFill>
                  <a:srgbClr val="F4F8FA"/>
                </a:solidFill>
                <a:latin typeface="Microsoft YaHei"/>
              </a:rPr>
              <a:t>账号4558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93976"/>
            <a:ext cx="3108959" cy="164592"/>
          </a:xfrm>
          <a:prstGeom prst="roundRect">
            <a:avLst/>
          </a:prstGeom>
          <a:solidFill>
            <a:srgbClr val="143444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2093976"/>
            <a:ext cx="2279903" cy="164592"/>
          </a:xfrm>
          <a:prstGeom prst="roundRect">
            <a:avLst/>
          </a:prstGeom>
          <a:solidFill>
            <a:srgbClr val="40D9C0"/>
          </a:solidFill>
          <a:ln w="10160">
            <a:solidFill>
              <a:srgbClr val="4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25312" y="2048256"/>
            <a:ext cx="658368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1100" b="1">
                <a:solidFill>
                  <a:srgbClr val="40D9C0"/>
                </a:solidFill>
                <a:latin typeface="Aptos Display"/>
              </a:rPr>
              <a:t>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87752"/>
            <a:ext cx="1965960" cy="21031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0">
                <a:solidFill>
                  <a:srgbClr val="F4F8FA"/>
                </a:solidFill>
                <a:latin typeface="Microsoft YaHei"/>
              </a:rPr>
              <a:t>主号9481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624328"/>
            <a:ext cx="3108959" cy="164592"/>
          </a:xfrm>
          <a:prstGeom prst="roundRect">
            <a:avLst/>
          </a:prstGeom>
          <a:solidFill>
            <a:srgbClr val="143444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2624328"/>
            <a:ext cx="2228088" cy="164592"/>
          </a:xfrm>
          <a:prstGeom prst="roundRect">
            <a:avLst/>
          </a:prstGeom>
          <a:solidFill>
            <a:srgbClr val="6EB6FF"/>
          </a:solidFill>
          <a:ln w="10160">
            <a:solidFill>
              <a:srgbClr val="6E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2578608"/>
            <a:ext cx="658368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1100" b="1">
                <a:solidFill>
                  <a:srgbClr val="6EB6FF"/>
                </a:solidFill>
                <a:latin typeface="Aptos Display"/>
              </a:rPr>
              <a:t>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18104"/>
            <a:ext cx="1965960" cy="21031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0">
                <a:solidFill>
                  <a:srgbClr val="F4F8FA"/>
                </a:solidFill>
                <a:latin typeface="Microsoft YaHei"/>
              </a:rPr>
              <a:t>账号8190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154680"/>
            <a:ext cx="3108959" cy="164592"/>
          </a:xfrm>
          <a:prstGeom prst="roundRect">
            <a:avLst/>
          </a:prstGeom>
          <a:solidFill>
            <a:srgbClr val="143444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154680"/>
            <a:ext cx="414527" cy="164592"/>
          </a:xfrm>
          <a:prstGeom prst="roundRect">
            <a:avLst/>
          </a:prstGeom>
          <a:solidFill>
            <a:srgbClr val="FFB454"/>
          </a:solidFill>
          <a:ln w="1016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25312" y="3108960"/>
            <a:ext cx="658368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1100" b="1">
                <a:solidFill>
                  <a:srgbClr val="FFB454"/>
                </a:solidFill>
                <a:latin typeface="Aptos Display"/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1664208"/>
            <a:ext cx="4224528" cy="2057400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14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947672"/>
            <a:ext cx="128016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1">
                <a:solidFill>
                  <a:srgbClr val="40D9C0"/>
                </a:solidFill>
                <a:latin typeface="Microsoft YaHei"/>
              </a:rPr>
              <a:t>运行窗口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468880"/>
            <a:ext cx="1645920" cy="310896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800" b="1">
                <a:solidFill>
                  <a:srgbClr val="F4F8FA"/>
                </a:solidFill>
                <a:latin typeface="Aptos Display"/>
              </a:rPr>
              <a:t>02:54–04:57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68880"/>
            <a:ext cx="1645920" cy="310896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800" b="1">
                <a:solidFill>
                  <a:srgbClr val="F4F8FA"/>
                </a:solidFill>
                <a:latin typeface="Aptos Display"/>
              </a:rPr>
              <a:t>17:40–22:28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154680"/>
            <a:ext cx="3337560" cy="24688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100" b="0">
                <a:solidFill>
                  <a:srgbClr val="FFB454"/>
                </a:solidFill>
                <a:latin typeface="Microsoft YaHei"/>
              </a:rPr>
              <a:t>中间约 12 小时 40 分无评估事件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005072"/>
            <a:ext cx="4224528" cy="1298448"/>
          </a:xfrm>
          <a:prstGeom prst="roundRect">
            <a:avLst/>
          </a:prstGeom>
          <a:solidFill>
            <a:srgbClr val="2A1D2A"/>
          </a:solidFill>
          <a:ln w="10160">
            <a:solidFill>
              <a:srgbClr val="5D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4315968"/>
            <a:ext cx="1188720" cy="4114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500" b="1">
                <a:solidFill>
                  <a:srgbClr val="FF6B6B"/>
                </a:solidFill>
                <a:latin typeface="Aptos Display"/>
              </a:rPr>
              <a:t>23 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224528"/>
            <a:ext cx="2331720" cy="59436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0">
                <a:solidFill>
                  <a:srgbClr val="F4F8FA"/>
                </a:solidFill>
                <a:latin typeface="Microsoft YaHei"/>
              </a:rPr>
              <a:t>第三账号的职位详情被浏览器拦截
仅进入投递 8 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5266944"/>
            <a:ext cx="10241280" cy="32918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结论：当日量少既有筛选损耗，也有可用运行时段不足。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996696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800" b="0">
                <a:solidFill>
                  <a:srgbClr val="91AAB5"/>
                </a:solidFill>
                <a:latin typeface="Microsoft YaHei"/>
              </a:rPr>
              <a:t>账号进入量取 delivery_state.db；时间段与弹窗拦截取 job_actions.jsonl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19672"/>
            <a:ext cx="146304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800" b="0">
                <a:solidFill>
                  <a:srgbClr val="91AAB5"/>
                </a:solidFill>
                <a:latin typeface="Microsoft YaHei"/>
              </a:rPr>
              <a:t>GOODJOB 运营复盘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6"/>
          </a:solidFill>
          <a:ln w="10160">
            <a:solidFill>
              <a:srgbClr val="08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12064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900" b="1">
                <a:solidFill>
                  <a:srgbClr val="40D9C0"/>
                </a:solidFill>
                <a:latin typeface="Microsoft YaHei"/>
              </a:rPr>
              <a:t>05 / 证据边界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515600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600" b="1">
                <a:solidFill>
                  <a:srgbClr val="F4F8FA"/>
                </a:solidFill>
                <a:latin typeface="Microsoft YaHei"/>
              </a:rPr>
              <a:t>哪些原因已经坐实，哪些还需要补日志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59436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数据日期 2026-07-19  ·  管理层复盘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59436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900" b="0">
                <a:solidFill>
                  <a:srgbClr val="91AAB5"/>
                </a:solidFill>
                <a:latin typeface="Microsoft YaHei"/>
              </a:rPr>
              <a:t>06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3456432" cy="3547872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057400"/>
            <a:ext cx="2286000" cy="2743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600" b="1">
                <a:solidFill>
                  <a:srgbClr val="65D391"/>
                </a:solidFill>
                <a:latin typeface="Microsoft YaHei"/>
              </a:rPr>
              <a:t>已证实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2743200"/>
            <a:ext cx="109728" cy="109728"/>
          </a:xfrm>
          <a:prstGeom prst="roundRect">
            <a:avLst/>
          </a:prstGeom>
          <a:solidFill>
            <a:srgbClr val="65D391"/>
          </a:solidFill>
          <a:ln w="10160"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670048"/>
            <a:ext cx="2606040" cy="42062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0">
                <a:solidFill>
                  <a:srgbClr val="F4F8FA"/>
                </a:solidFill>
                <a:latin typeface="Microsoft YaHei"/>
              </a:rPr>
              <a:t>3% 分母使用全历史评估量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3456432"/>
            <a:ext cx="109728" cy="109728"/>
          </a:xfrm>
          <a:prstGeom prst="roundRect">
            <a:avLst/>
          </a:prstGeom>
          <a:solidFill>
            <a:srgbClr val="65D391"/>
          </a:solidFill>
          <a:ln w="10160"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383280"/>
            <a:ext cx="2606040" cy="42062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0">
                <a:solidFill>
                  <a:srgbClr val="F4F8FA"/>
                </a:solidFill>
                <a:latin typeface="Microsoft YaHei"/>
              </a:rPr>
              <a:t>HR 活跃筛选排除了 191 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169664"/>
            <a:ext cx="109728" cy="109728"/>
          </a:xfrm>
          <a:prstGeom prst="roundRect">
            <a:avLst/>
          </a:prstGeom>
          <a:solidFill>
            <a:srgbClr val="65D391"/>
          </a:solidFill>
          <a:ln w="10160"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096512"/>
            <a:ext cx="2606040" cy="42062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0">
                <a:solidFill>
                  <a:srgbClr val="F4F8FA"/>
                </a:solidFill>
                <a:latin typeface="Microsoft YaHei"/>
              </a:rPr>
              <a:t>第三账号晚启动，23 次详情拦截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5424" y="1783080"/>
            <a:ext cx="3456432" cy="3547872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057400"/>
            <a:ext cx="2286000" cy="2743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Microsoft YaHei"/>
              </a:rPr>
              <a:t>强推断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9744" y="2743200"/>
            <a:ext cx="109728" cy="109728"/>
          </a:xfrm>
          <a:prstGeom prst="roundRect">
            <a:avLst/>
          </a:prstGeom>
          <a:solidFill>
            <a:srgbClr val="FFB454"/>
          </a:solidFill>
          <a:ln w="1016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670048"/>
            <a:ext cx="2606040" cy="42062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0">
                <a:solidFill>
                  <a:srgbClr val="F4F8FA"/>
                </a:solidFill>
                <a:latin typeface="Microsoft YaHei"/>
              </a:rPr>
              <a:t>领取前跳过可能包含重复岗位预检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9744" y="3456432"/>
            <a:ext cx="109728" cy="109728"/>
          </a:xfrm>
          <a:prstGeom prst="roundRect">
            <a:avLst/>
          </a:prstGeom>
          <a:solidFill>
            <a:srgbClr val="FFB454"/>
          </a:solidFill>
          <a:ln w="1016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383280"/>
            <a:ext cx="2606040" cy="42062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0">
                <a:solidFill>
                  <a:srgbClr val="F4F8FA"/>
                </a:solidFill>
                <a:latin typeface="Microsoft YaHei"/>
              </a:rPr>
              <a:t>长时间停运压缩了可扫描岗位量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9744" y="4169664"/>
            <a:ext cx="109728" cy="109728"/>
          </a:xfrm>
          <a:prstGeom prst="roundRect">
            <a:avLst/>
          </a:prstGeom>
          <a:solidFill>
            <a:srgbClr val="FFB454"/>
          </a:solidFill>
          <a:ln w="1016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4096512"/>
            <a:ext cx="2606040" cy="42062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0">
                <a:solidFill>
                  <a:srgbClr val="F4F8FA"/>
                </a:solidFill>
                <a:latin typeface="Microsoft YaHei"/>
              </a:rPr>
              <a:t>AI 过滤集中在电气/语言/经验不匹配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57615" y="1783080"/>
            <a:ext cx="3456432" cy="3547872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7" y="2057400"/>
            <a:ext cx="2286000" cy="2743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Microsoft YaHei"/>
              </a:rPr>
              <a:t>需补日志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31936" y="2743200"/>
            <a:ext cx="109728" cy="109728"/>
          </a:xfrm>
          <a:prstGeom prst="roundRect">
            <a:avLst/>
          </a:prstGeom>
          <a:solidFill>
            <a:srgbClr val="FF6B6B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51392" y="2670048"/>
            <a:ext cx="2606040" cy="42062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0">
                <a:solidFill>
                  <a:srgbClr val="F4F8FA"/>
                </a:solidFill>
                <a:latin typeface="Microsoft YaHei"/>
              </a:rPr>
              <a:t>132 个评估没有明确后续事件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31936" y="3456432"/>
            <a:ext cx="109728" cy="109728"/>
          </a:xfrm>
          <a:prstGeom prst="roundRect">
            <a:avLst/>
          </a:prstGeom>
          <a:solidFill>
            <a:srgbClr val="FF6B6B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51392" y="3383280"/>
            <a:ext cx="2606040" cy="42062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0">
                <a:solidFill>
                  <a:srgbClr val="F4F8FA"/>
                </a:solidFill>
                <a:latin typeface="Microsoft YaHei"/>
              </a:rPr>
              <a:t>无法区分重复、预检不可用与中断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31936" y="4169664"/>
            <a:ext cx="109728" cy="109728"/>
          </a:xfrm>
          <a:prstGeom prst="roundRect">
            <a:avLst/>
          </a:prstGeom>
          <a:solidFill>
            <a:srgbClr val="FF6B6B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51392" y="4096512"/>
            <a:ext cx="2606040" cy="42062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200" b="0">
                <a:solidFill>
                  <a:srgbClr val="F4F8FA"/>
                </a:solidFill>
                <a:latin typeface="Microsoft YaHei"/>
              </a:rPr>
              <a:t>下一版要记录 skip_reason 与 claim 阶段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669280"/>
            <a:ext cx="10515600" cy="34747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1500" b="1">
                <a:solidFill>
                  <a:srgbClr val="FFB454"/>
                </a:solidFill>
                <a:latin typeface="Microsoft YaHei"/>
              </a:rPr>
              <a:t>汇报原则：把“日志未记录”单独列出，避免用未经证实的重复岗位解释全部损耗。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996696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800" b="0">
                <a:solidFill>
                  <a:srgbClr val="91AAB5"/>
                </a:solidFill>
                <a:latin typeface="Microsoft YaHei"/>
              </a:rPr>
              <a:t>证据分级基于源码分支、事件日志和数据库状态；强推断不作为精确归因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9672"/>
            <a:ext cx="146304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800" b="0">
                <a:solidFill>
                  <a:srgbClr val="91AAB5"/>
                </a:solidFill>
                <a:latin typeface="Microsoft YaHei"/>
              </a:rPr>
              <a:t>GOODJOB 运营复盘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6"/>
          </a:solidFill>
          <a:ln w="10160">
            <a:solidFill>
              <a:srgbClr val="08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12064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900" b="1">
                <a:solidFill>
                  <a:srgbClr val="40D9C0"/>
                </a:solidFill>
                <a:latin typeface="Microsoft YaHei"/>
              </a:rPr>
              <a:t>06 / 整改优先级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515600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2600" b="1">
                <a:solidFill>
                  <a:srgbClr val="F4F8FA"/>
                </a:solidFill>
                <a:latin typeface="Microsoft YaHei"/>
              </a:rPr>
              <a:t>先修口径，再减少可确认损耗，最后补齐审计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59436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000" b="0">
                <a:solidFill>
                  <a:srgbClr val="91AAB5"/>
                </a:solidFill>
                <a:latin typeface="Microsoft YaHei"/>
              </a:rPr>
              <a:t>数据日期 2026-07-19  ·  管理层复盘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59436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900" b="0">
                <a:solidFill>
                  <a:srgbClr val="91AAB5"/>
                </a:solidFill>
                <a:latin typeface="Microsoft YaHei"/>
              </a:rPr>
              <a:t>07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92224"/>
            <a:ext cx="3456432" cy="2907792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084831"/>
            <a:ext cx="2880360" cy="29260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Microsoft YaHei"/>
              </a:rPr>
              <a:t>P0  今天就修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761488"/>
            <a:ext cx="2852928" cy="123444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400" b="0">
                <a:solidFill>
                  <a:srgbClr val="F4F8FA"/>
                </a:solidFill>
                <a:latin typeface="Microsoft YaHei"/>
              </a:rPr>
              <a:t>修正漏斗分母
同日评估量与同日进入量联动
避免再出现“3%”误判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1792224"/>
            <a:ext cx="3456432" cy="2907792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1456" y="2084831"/>
            <a:ext cx="2880360" cy="29260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Microsoft YaHei"/>
              </a:rPr>
              <a:t>P1  明日验证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1456" y="2761488"/>
            <a:ext cx="2852928" cy="123444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400" b="0">
                <a:solidFill>
                  <a:srgbClr val="F4F8FA"/>
                </a:solidFill>
                <a:latin typeface="Microsoft YaHei"/>
              </a:rPr>
              <a:t>重新评估 HR 活跃范围
优先验证 within_3_days / this_week
观察进入率与质量变化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7615" y="1792224"/>
            <a:ext cx="3456432" cy="2907792"/>
          </a:xfrm>
          <a:prstGeom prst="roundRect">
            <a:avLst/>
          </a:prstGeom>
          <a:solidFill>
            <a:srgbClr val="102A38"/>
          </a:solidFill>
          <a:ln w="10160">
            <a:solidFill>
              <a:srgbClr val="4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7" y="2084831"/>
            <a:ext cx="2880360" cy="29260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600" b="1">
                <a:solidFill>
                  <a:srgbClr val="40D9C0"/>
                </a:solidFill>
                <a:latin typeface="Microsoft YaHei"/>
              </a:rPr>
              <a:t>P2  本周补齐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7" y="2761488"/>
            <a:ext cx="2852928" cy="123444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1400" b="0">
                <a:solidFill>
                  <a:srgbClr val="F4F8FA"/>
                </a:solidFill>
                <a:latin typeface="Microsoft YaHei"/>
              </a:rPr>
              <a:t>为领取前分支统一记录
skip_reason / precheck / claim
把 132 个盲区拆成可行动数据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102352"/>
            <a:ext cx="10899648" cy="786384"/>
          </a:xfrm>
          <a:prstGeom prst="roundRect">
            <a:avLst/>
          </a:prstGeom>
          <a:solidFill>
            <a:srgbClr val="122A2A"/>
          </a:solidFill>
          <a:ln w="10160">
            <a:solidFill>
              <a:srgbClr val="2D6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321808"/>
            <a:ext cx="10378440" cy="3017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ctr"/>
            <a:r>
              <a:rPr sz="1400" b="1">
                <a:solidFill>
                  <a:srgbClr val="65D391"/>
                </a:solidFill>
                <a:latin typeface="Microsoft YaHei"/>
              </a:rPr>
              <a:t>明日复盘建议口径：评估岗位 → 同日进入投递 → 已发送；同时单列 HR 筛除、AI 筛除、随机跳过与领取前盲区。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9672"/>
            <a:ext cx="996696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l"/>
            <a:r>
              <a:rPr sz="800" b="0">
                <a:solidFill>
                  <a:srgbClr val="91AAB5"/>
                </a:solidFill>
                <a:latin typeface="Microsoft YaHei"/>
              </a:rPr>
              <a:t>建议按 P0/P1/P2 执行；本页为行动建议，不改变历史数据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519672"/>
            <a:ext cx="1463040" cy="164592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rmAutofit/>
          </a:bodyPr>
          <a:lstStyle/>
          <a:p>
            <a:pPr algn="r"/>
            <a:r>
              <a:rPr sz="800" b="0">
                <a:solidFill>
                  <a:srgbClr val="91AAB5"/>
                </a:solidFill>
                <a:latin typeface="Microsoft YaHei"/>
              </a:rPr>
              <a:t>GOODJOB 运营复盘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